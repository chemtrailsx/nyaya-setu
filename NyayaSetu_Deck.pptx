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NyayaSetu is a built, deployed prototype. It turns a photographed legal document into a grounded, filed-ready plan for people who face the law without a lawyer.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23285C"/>
          </a:solidFill>
          <a:ln w="12700">
            <a:solidFill>
              <a:srgbClr val="3A439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· DEPLOYED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NyayaSetu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DC872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न्याय सेतु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35204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legal aid for rural India — that reads a legal document, grounds a strategy in real statute, drafts the filings in the user's language, and routes to free government legal aid.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C8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62288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of real statute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0" y="26791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C8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62288" y="3227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recall @8 (eval)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0" y="37581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C8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62288" y="4306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fully localized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0" y="48371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C8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62288" y="53858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the citizen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in. Justice out.</a:t>
            </a:r>
            <a:pPr algn="l" indent="0" marL="0">
              <a:buNone/>
            </a:pPr>
            <a:r>
              <a:rPr lang="en-US" sz="150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nyaya-setu-nine.vercel.app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Justice is a privilege, not a right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25808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DC8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25351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rural Indians cannot access or afford legal representation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30702" y="1783080"/>
            <a:ext cx="25808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A3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50M+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330702" y="2697480"/>
            <a:ext cx="25351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pending in Indian courts — half involving poor rural families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94476" y="1783080"/>
            <a:ext cx="25808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094476" y="2697480"/>
            <a:ext cx="25351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women facing domestic violence or FIR denial never get legal help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58250" y="1783080"/>
            <a:ext cx="25808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67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858250" y="2697480"/>
            <a:ext cx="25351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NALSA free legal aid in most rural districts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114800"/>
            <a:ext cx="11055096" cy="1828800"/>
          </a:xfrm>
          <a:prstGeom prst="roundRect">
            <a:avLst>
              <a:gd name="adj" fmla="val 4500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279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3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Radha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1248" y="46268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Widow · farmer · Jharkhand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4956048"/>
            <a:ext cx="10506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late husband's land is disputed by relatives. A notice arrives in legal Hindi she cannot read.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nearest lawyer is 80 km away and charges ₹5,000 just to read it.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police refuse her complaint. NALSA guarantees her free legal aid — but she has never heard of it.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not exceptional. She is the rule.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National Judicial Data Grid · India Justice Report · NALSA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· न्याय सेतु · ScriptedBy{Her} 2.0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091672" y="6455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in. Justice out.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photographed legal paper becomes a clear, correct, step-by-step plan — closing the loop no chatbot closes: from an unreadable document to a filed-ready, lawyer-checked action in the user's own language.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2006194" cy="2788920"/>
          </a:xfrm>
          <a:prstGeom prst="roundRect">
            <a:avLst>
              <a:gd name="adj" fmla="val 4102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2A327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364992"/>
            <a:ext cx="1640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3767328"/>
            <a:ext cx="16404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any FIR, land paper, notice or letter. Web or WhatsApp — no app, no login.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54834" y="3566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7291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29154" y="2423160"/>
            <a:ext cx="2006194" cy="2788920"/>
          </a:xfrm>
          <a:prstGeom prst="roundRect">
            <a:avLst>
              <a:gd name="adj" fmla="val 4102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85186" y="2651760"/>
            <a:ext cx="566928" cy="566928"/>
          </a:xfrm>
          <a:prstGeom prst="ellipse">
            <a:avLst/>
          </a:prstGeom>
          <a:solidFill>
            <a:srgbClr val="2A327A"/>
          </a:solidFill>
          <a:ln/>
        </p:spPr>
      </p:sp>
      <p:sp>
        <p:nvSpPr>
          <p:cNvPr id="13" name="Text 11"/>
          <p:cNvSpPr/>
          <p:nvPr/>
        </p:nvSpPr>
        <p:spPr>
          <a:xfrm>
            <a:off x="3085186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2034" y="3364992"/>
            <a:ext cx="1640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12034" y="3767328"/>
            <a:ext cx="16404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vision read it, mask IDs, explain in plain language — read aloud for non-readers.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17059" y="3566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7291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91379" y="2423160"/>
            <a:ext cx="2006194" cy="2788920"/>
          </a:xfrm>
          <a:prstGeom prst="roundRect">
            <a:avLst>
              <a:gd name="adj" fmla="val 4102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47411" y="2651760"/>
            <a:ext cx="566928" cy="566928"/>
          </a:xfrm>
          <a:prstGeom prst="ellipse">
            <a:avLst/>
          </a:prstGeom>
          <a:solidFill>
            <a:srgbClr val="2A327A"/>
          </a:solidFill>
          <a:ln/>
        </p:spPr>
      </p:sp>
      <p:sp>
        <p:nvSpPr>
          <p:cNvPr id="19" name="Text 17"/>
          <p:cNvSpPr/>
          <p:nvPr/>
        </p:nvSpPr>
        <p:spPr>
          <a:xfrm>
            <a:off x="5347411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74259" y="3364992"/>
            <a:ext cx="1640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74259" y="3767328"/>
            <a:ext cx="16404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real statute; produce a numbered plan: office, officer, fee, deadline, citations.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79285" y="3566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7291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53605" y="2423160"/>
            <a:ext cx="2006194" cy="2788920"/>
          </a:xfrm>
          <a:prstGeom prst="roundRect">
            <a:avLst>
              <a:gd name="adj" fmla="val 4102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09637" y="2651760"/>
            <a:ext cx="566928" cy="566928"/>
          </a:xfrm>
          <a:prstGeom prst="ellipse">
            <a:avLst/>
          </a:prstGeom>
          <a:solidFill>
            <a:srgbClr val="2A327A"/>
          </a:solidFill>
          <a:ln/>
        </p:spPr>
      </p:sp>
      <p:sp>
        <p:nvSpPr>
          <p:cNvPr id="25" name="Text 23"/>
          <p:cNvSpPr/>
          <p:nvPr/>
        </p:nvSpPr>
        <p:spPr>
          <a:xfrm>
            <a:off x="7609637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36485" y="3364992"/>
            <a:ext cx="1640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36485" y="3767328"/>
            <a:ext cx="16404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real forms; user fills them by voice; open the official portal to submit.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41510" y="3566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7291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15830" y="2423160"/>
            <a:ext cx="2006194" cy="2788920"/>
          </a:xfrm>
          <a:prstGeom prst="roundRect">
            <a:avLst>
              <a:gd name="adj" fmla="val 4102"/>
            </a:avLst>
          </a:prstGeom>
          <a:solidFill>
            <a:srgbClr val="F9EEDC"/>
          </a:solidFill>
          <a:ln w="12700">
            <a:solidFill>
              <a:srgbClr val="DC8724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871862" y="2651760"/>
            <a:ext cx="566928" cy="566928"/>
          </a:xfrm>
          <a:prstGeom prst="ellipse">
            <a:avLst/>
          </a:prstGeom>
          <a:solidFill>
            <a:srgbClr val="DC8724"/>
          </a:solidFill>
          <a:ln/>
        </p:spPr>
      </p:sp>
      <p:sp>
        <p:nvSpPr>
          <p:cNvPr id="31" name="Text 29"/>
          <p:cNvSpPr/>
          <p:nvPr/>
        </p:nvSpPr>
        <p:spPr>
          <a:xfrm>
            <a:off x="9871862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98710" y="3364992"/>
            <a:ext cx="1640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Safeguard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98710" y="3767328"/>
            <a:ext cx="16404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or sensitive cases route to free NALSA legal aid — never a guess.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5486400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E9ECFB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" y="5486400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3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aspirational — built &amp; deployed.  </a:t>
            </a:r>
            <a:pPr algn="l" indent="0" marL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nyaya-setu-nine.vercel.app, grounded on 938 statute sections, tested on genuine government FIRs, and measured against a lawyer-adjudicated benchmark.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· न्याय सेतु · ScriptedBy{Her} 2.0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091672" y="6455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deterministic, confidence-gated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specialized agents in one state machine. Every transition is logged and replayable; an error must clear a confidence gate before anything reaches the user.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346704" cy="1051560"/>
          </a:xfrm>
          <a:prstGeom prst="roundRect">
            <a:avLst>
              <a:gd name="adj" fmla="val 7826"/>
            </a:avLst>
          </a:prstGeom>
          <a:solidFill>
            <a:srgbClr val="2A327A"/>
          </a:solidFill>
          <a:ln/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2860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6700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· language detect · classify · mask IDs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30218" y="2331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7291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21124" y="2148840"/>
            <a:ext cx="3346704" cy="1051560"/>
          </a:xfrm>
          <a:prstGeom prst="roundRect">
            <a:avLst>
              <a:gd name="adj" fmla="val 7826"/>
            </a:avLst>
          </a:prstGeom>
          <a:solidFill>
            <a:srgbClr val="2A327A"/>
          </a:solidFill>
          <a:ln/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4004" y="22860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4004" y="26700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RAG → action plan + citations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84414" y="2331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7291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75320" y="2148840"/>
            <a:ext cx="3346704" cy="1051560"/>
          </a:xfrm>
          <a:prstGeom prst="roundRect">
            <a:avLst>
              <a:gd name="adj" fmla="val 7826"/>
            </a:avLst>
          </a:prstGeom>
          <a:solidFill>
            <a:srgbClr val="2A327A"/>
          </a:solidFill>
          <a:ln/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22860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Drafting Agent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26700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forms, fields &amp; letters in-language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7291"/>
                </a:solidFill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66928" y="3611880"/>
            <a:ext cx="3346704" cy="960120"/>
          </a:xfrm>
          <a:prstGeom prst="roundRect">
            <a:avLst>
              <a:gd name="adj" fmla="val 8571"/>
            </a:avLst>
          </a:prstGeom>
          <a:solidFill>
            <a:srgbClr val="F9EEDC"/>
          </a:solidFill>
          <a:ln w="12700">
            <a:solidFill>
              <a:srgbClr val="DC8724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373075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76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Gate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4059936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 of OCR × classification × retrieval — threshold 0.72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21124" y="3611880"/>
            <a:ext cx="3346704" cy="960120"/>
          </a:xfrm>
          <a:prstGeom prst="roundRect">
            <a:avLst>
              <a:gd name="adj" fmla="val 8571"/>
            </a:avLst>
          </a:prstGeom>
          <a:solidFill>
            <a:srgbClr val="E4F2EA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04004" y="3712464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Agent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04004" y="404164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threshold → autonomous: case tracking &amp; proactive alerts.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75320" y="3611880"/>
            <a:ext cx="3346704" cy="960120"/>
          </a:xfrm>
          <a:prstGeom prst="roundRect">
            <a:avLst>
              <a:gd name="adj" fmla="val 8571"/>
            </a:avLst>
          </a:prstGeom>
          <a:solidFill>
            <a:srgbClr val="E9ECFB"/>
          </a:solidFill>
          <a:ln w="12700">
            <a:solidFill>
              <a:srgbClr val="434DB0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58200" y="3712464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Agent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458200" y="404164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 / sensitive → free NALSA legal aid (human).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5212080"/>
            <a:ext cx="11055096" cy="1005840"/>
          </a:xfrm>
          <a:prstGeom prst="roundRect">
            <a:avLst>
              <a:gd name="adj" fmla="val 7273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5349240"/>
            <a:ext cx="24894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5528" y="5669280"/>
            <a:ext cx="24894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retrieved statute; refuse on no-grounding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59302" y="5349240"/>
            <a:ext cx="24894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59302" y="5669280"/>
            <a:ext cx="24894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machine, not a free-form chat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23076" y="5349240"/>
            <a:ext cx="24894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23076" y="5669280"/>
            <a:ext cx="24894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event log, streamed live &amp; replayable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086850" y="5349240"/>
            <a:ext cx="24894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Provider-agnostic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086850" y="5669280"/>
            <a:ext cx="24894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model with no code change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· न्याय सेतु · ScriptedBy{Her} 2.0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091672" y="6455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specialized agents, one pipeline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5096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309360"/>
                <a:gridCol w="2935224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2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2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stack (free tier)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27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1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photo/PDF/Word, detects language, classifies the matter, maps candidate sections, masks Aadhaar/PAN/phone.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Vision (OCR)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1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RAG over 938 statute sections → grounded, jurisdiction-aware action plan with verified citations.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(Llama) · BM25 + embeddings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1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Drafting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 the real forms — fields, letters, where/whom to submit, what happens next — in the user's language.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· structured templates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1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branch: sets up the case and sends proactive alerts (WhatsApp).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Twilio (WhatsApp) · eCourts (roadmap)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1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Escalation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gate: routes low-confidence / sensitive cases to free NALSA / DLSA legal aid.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NALSA LSMS · helpline 15100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throughout: every screen is read aloud, and every form field can be filled by speaking — in 6 languages.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· न्याय सेतु · ScriptedBy{Her} 2.0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91672" y="6455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SAFE FOR LAW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Grounded, not generative guesswork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a legal-aid tool can trust this and not a general chatbot: every legal claim is tied to a real, retrieved statutory passage — and it refuses when it can't be.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5436108" cy="1737360"/>
          </a:xfrm>
          <a:prstGeom prst="roundRect">
            <a:avLst>
              <a:gd name="adj" fmla="val 4737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2423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1435608" y="2450592"/>
            <a:ext cx="4338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Real-statute corpus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4978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938 curated sections — BNS (346), BNSS (521), Hindu Succession Act (33), NALSA (38) — parsed from official PDFs.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85916" y="2194560"/>
            <a:ext cx="5436108" cy="1737360"/>
          </a:xfrm>
          <a:prstGeom prst="roundRect">
            <a:avLst>
              <a:gd name="adj" fmla="val 4737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4516" y="2423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A327A"/>
          </a:solidFill>
          <a:ln/>
        </p:spPr>
      </p:sp>
      <p:sp>
        <p:nvSpPr>
          <p:cNvPr id="11" name="Text 9"/>
          <p:cNvSpPr/>
          <p:nvPr/>
        </p:nvSpPr>
        <p:spPr>
          <a:xfrm>
            <a:off x="7054596" y="2450592"/>
            <a:ext cx="4338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Retrieve, then reason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1948" y="3035808"/>
            <a:ext cx="4978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dense retrieval surfaces the governing sections; the model may cite ONLY what was retrieved.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114800"/>
            <a:ext cx="5436108" cy="1737360"/>
          </a:xfrm>
          <a:prstGeom prst="roundRect">
            <a:avLst>
              <a:gd name="adj" fmla="val 4737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5528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8724"/>
          </a:solidFill>
          <a:ln/>
        </p:spPr>
      </p:sp>
      <p:sp>
        <p:nvSpPr>
          <p:cNvPr id="15" name="Text 13"/>
          <p:cNvSpPr/>
          <p:nvPr/>
        </p:nvSpPr>
        <p:spPr>
          <a:xfrm>
            <a:off x="1435608" y="4370832"/>
            <a:ext cx="4338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 verification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956048"/>
            <a:ext cx="4978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sections are checked against the retrieved set — anything the model can't back is programmatically dropped.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85916" y="4114800"/>
            <a:ext cx="5436108" cy="1737360"/>
          </a:xfrm>
          <a:prstGeom prst="roundRect">
            <a:avLst>
              <a:gd name="adj" fmla="val 4737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4516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67611"/>
          </a:solidFill>
          <a:ln/>
        </p:spPr>
      </p:sp>
      <p:sp>
        <p:nvSpPr>
          <p:cNvPr id="19" name="Text 17"/>
          <p:cNvSpPr/>
          <p:nvPr/>
        </p:nvSpPr>
        <p:spPr>
          <a:xfrm>
            <a:off x="7054596" y="4370832"/>
            <a:ext cx="4338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Refuse on doubt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1948" y="4956048"/>
            <a:ext cx="4978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grounding, or below the confidence gate → it declines and escalates to a human. A wrong section is worse than none.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· न्याय सेतु · ScriptedBy{Her} 2.0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091672" y="6455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claimed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says “grounded, no hallucination.” We publish the number — scored against a lawyer-adjudicated gold set, gating every change in CI.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2558034" cy="2286000"/>
          </a:xfrm>
          <a:prstGeom prst="roundRect">
            <a:avLst>
              <a:gd name="adj" fmla="val 4000"/>
            </a:avLst>
          </a:prstGeom>
          <a:solidFill>
            <a:srgbClr val="20265A"/>
          </a:solidFill>
          <a:ln w="12700">
            <a:solidFill>
              <a:srgbClr val="343B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651760"/>
            <a:ext cx="25580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8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04088" y="3611880"/>
            <a:ext cx="2283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recall @8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3977640"/>
            <a:ext cx="2192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E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every section a lawyer marked as the legal basis (11/11)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9282" y="2423160"/>
            <a:ext cx="2558034" cy="2286000"/>
          </a:xfrm>
          <a:prstGeom prst="roundRect">
            <a:avLst>
              <a:gd name="adj" fmla="val 4000"/>
            </a:avLst>
          </a:prstGeom>
          <a:solidFill>
            <a:srgbClr val="20265A"/>
          </a:solidFill>
          <a:ln w="12700">
            <a:solidFill>
              <a:srgbClr val="343B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9282" y="2651760"/>
            <a:ext cx="25580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8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536442" y="3611880"/>
            <a:ext cx="2283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Wrong-law citations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82162" y="3977640"/>
            <a:ext cx="2192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E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cited a section a lawyer flagged as inapplicable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1636" y="2423160"/>
            <a:ext cx="2558034" cy="2286000"/>
          </a:xfrm>
          <a:prstGeom prst="roundRect">
            <a:avLst>
              <a:gd name="adj" fmla="val 4000"/>
            </a:avLst>
          </a:prstGeom>
          <a:solidFill>
            <a:srgbClr val="20265A"/>
          </a:solidFill>
          <a:ln w="12700">
            <a:solidFill>
              <a:srgbClr val="343B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1636" y="2651760"/>
            <a:ext cx="25580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8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368796" y="3611880"/>
            <a:ext cx="2283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precision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4516" y="3977640"/>
            <a:ext cx="2192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E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what the plan cited, the share an advocate approved (14/17)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63990" y="2423160"/>
            <a:ext cx="2558034" cy="2286000"/>
          </a:xfrm>
          <a:prstGeom prst="roundRect">
            <a:avLst>
              <a:gd name="adj" fmla="val 4000"/>
            </a:avLst>
          </a:prstGeom>
          <a:solidFill>
            <a:srgbClr val="20265A"/>
          </a:solidFill>
          <a:ln w="12700">
            <a:solidFill>
              <a:srgbClr val="343B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63990" y="2651760"/>
            <a:ext cx="25580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8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9201150" y="3611880"/>
            <a:ext cx="2283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accuracy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46870" y="3977640"/>
            <a:ext cx="2192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E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off to a human on exactly the right cases (7/7)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4983480"/>
            <a:ext cx="11055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already earned its keep: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caught a missing succession section and a wrong-law citation, both fixed and re-verified. v0.1 seed set: 8 lawyer-adjudicated archetypes across 6 states — roadmap scales it to 200+ and calibrates the confidence threshold on real outcomes.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850" dirty="0">
                <a:solidFill>
                  <a:srgbClr val="9AA0C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· न्याय सेतु · ScriptedBy{Her} 2.0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091672" y="6455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BHARAT, NOT ONE DISTRICT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Jurisdiction-aware across every 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and revenue procedure is a State subject —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mutation process, the record's name, the office and even the officer's title differ by state. Citing the wrong state's portal is a confident-but-wrong failure, so every state carries its own procedural facts, and the agents are told which state governs the case.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5436108" cy="2103120"/>
          </a:xfrm>
          <a:prstGeom prst="roundRect">
            <a:avLst>
              <a:gd name="adj" fmla="val 3913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4978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Jharkhand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95728" y="3017520"/>
            <a:ext cx="3378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Officer (Anchal Adhikari)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term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95728" y="3383280"/>
            <a:ext cx="3378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Dakhil-Kharij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record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95728" y="3749040"/>
            <a:ext cx="3378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Khatiyan / RoR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portal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95728" y="4114800"/>
            <a:ext cx="3378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JharBhoomi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5916" y="2377440"/>
            <a:ext cx="5436108" cy="2103120"/>
          </a:xfrm>
          <a:prstGeom prst="roundRect">
            <a:avLst>
              <a:gd name="adj" fmla="val 3913"/>
            </a:avLst>
          </a:prstGeom>
          <a:solidFill>
            <a:srgbClr val="E9ECFB"/>
          </a:solidFill>
          <a:ln w="12700">
            <a:solidFill>
              <a:srgbClr val="434DB0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1948" y="2514600"/>
            <a:ext cx="4978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3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Maharashtra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1948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14716" y="3017520"/>
            <a:ext cx="3378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Talathi / Tahsildar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1948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term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14716" y="3383280"/>
            <a:ext cx="3378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Pheri / mutation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1948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record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14716" y="3749040"/>
            <a:ext cx="3378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 (Satbara)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1948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portal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14716" y="4114800"/>
            <a:ext cx="3378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Mahabhulekh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41605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widow's land notice → the tool names the right office, term, record and portal for the user's state.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709160"/>
            <a:ext cx="11055096" cy="1280160"/>
          </a:xfrm>
          <a:prstGeom prst="roundRect">
            <a:avLst>
              <a:gd name="adj" fmla="val 5714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864608"/>
            <a:ext cx="10506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 states in the registry · auto-detected from the document or picked by the user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5230368"/>
            <a:ext cx="10506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free-legal-aid ladder (NALSA → State → District LSA, helpline 15100) is uniform nationwide — the safe human anchor in every state, no matter how land procedure differs.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· न्याय सेतु · ScriptedBy{Her} 2.0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091672" y="6455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ANCHOR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handoff routes to free NALSA legal aid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hallucinated private lawyer.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and sensitive cases route to the statutory free-legal-aid ladder that already exists in every district under the Legal Services Authorities Act, 1987 — free for eligible users, and the shield against unauthorized-practice-of-law risk.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5390388" cy="3383280"/>
          </a:xfrm>
          <a:prstGeom prst="roundRect">
            <a:avLst>
              <a:gd name="adj" fmla="val 2432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78608"/>
            <a:ext cx="4887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3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legal aid under §12 — the tool self-checks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8874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woman or a child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/ ST member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with a disability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of trafficking or violence (incl. DV)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of disaster / caste atrocity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workman; person in custody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below the State's legal-aid ceiling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1636" y="2423160"/>
            <a:ext cx="5390388" cy="3383280"/>
          </a:xfrm>
          <a:prstGeom prst="roundRect">
            <a:avLst>
              <a:gd name="adj" fmla="val 2432"/>
            </a:avLst>
          </a:prstGeom>
          <a:solidFill>
            <a:srgbClr val="E9ECFB"/>
          </a:solidFill>
          <a:ln w="12700">
            <a:solidFill>
              <a:srgbClr val="434DB0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87668" y="2578608"/>
            <a:ext cx="4887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3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user gets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87668" y="3063240"/>
            <a:ext cx="48417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A3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card asks, in their language, whether any ground applies — and tells them if they qualify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A3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helpline 15100 (tap to call) and one-tap register on the NALSA LSMS online form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A3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District Legal Services Authority panel lawyer, assigned at no cost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A3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anything filed in court, a NALSA lawyer reviews it before it leaves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· न्याय सेतु · ScriptedBy{Her} 2.0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091672" y="6455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Voice-first, for people who cannot read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36108" cy="1417320"/>
          </a:xfrm>
          <a:prstGeom prst="roundRect">
            <a:avLst>
              <a:gd name="adj" fmla="val 5806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9112"/>
            <a:ext cx="502920" cy="502920"/>
          </a:xfrm>
          <a:prstGeom prst="ellipse">
            <a:avLst/>
          </a:prstGeom>
          <a:solidFill>
            <a:srgbClr val="DC872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2039112"/>
            <a:ext cx="4293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aloud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4978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and generated form is read aloud in the user's language — usable by someone who cannot read at 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85916" y="1783080"/>
            <a:ext cx="5436108" cy="1417320"/>
          </a:xfrm>
          <a:prstGeom prst="roundRect">
            <a:avLst>
              <a:gd name="adj" fmla="val 5806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1948" y="2039112"/>
            <a:ext cx="502920" cy="502920"/>
          </a:xfrm>
          <a:prstGeom prst="ellipse">
            <a:avLst/>
          </a:prstGeom>
          <a:solidFill>
            <a:srgbClr val="DC8724"/>
          </a:solidFill>
          <a:ln/>
        </p:spPr>
      </p:sp>
      <p:sp>
        <p:nvSpPr>
          <p:cNvPr id="11" name="Text 9"/>
          <p:cNvSpPr/>
          <p:nvPr/>
        </p:nvSpPr>
        <p:spPr>
          <a:xfrm>
            <a:off x="6441948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00316" y="2039112"/>
            <a:ext cx="4293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by voice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41948" y="2624328"/>
            <a:ext cx="4978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answers by speaking; speech-to-text fills every form field. They never type a word.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383280"/>
            <a:ext cx="5436108" cy="1417320"/>
          </a:xfrm>
          <a:prstGeom prst="roundRect">
            <a:avLst>
              <a:gd name="adj" fmla="val 5806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639312"/>
            <a:ext cx="502920" cy="502920"/>
          </a:xfrm>
          <a:prstGeom prst="ellipse">
            <a:avLst/>
          </a:prstGeom>
          <a:solidFill>
            <a:srgbClr val="DC872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81328" y="3639312"/>
            <a:ext cx="4293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languages, fully localized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4224528"/>
            <a:ext cx="4978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English, Bengali, Tamil, Telugu, Marathi — the whole interface, not just the AI text, switches language.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85916" y="3383280"/>
            <a:ext cx="5436108" cy="1417320"/>
          </a:xfrm>
          <a:prstGeom prst="roundRect">
            <a:avLst>
              <a:gd name="adj" fmla="val 5806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1948" y="3639312"/>
            <a:ext cx="502920" cy="502920"/>
          </a:xfrm>
          <a:prstGeom prst="ellipse">
            <a:avLst/>
          </a:prstGeom>
          <a:solidFill>
            <a:srgbClr val="DC87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41948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00316" y="3639312"/>
            <a:ext cx="4293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Camera-first + WhatsApp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41948" y="4224528"/>
            <a:ext cx="4978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camera, or send a photo over WhatsApp. No app install, no login, no legalese.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120640"/>
            <a:ext cx="11055096" cy="822960"/>
          </a:xfrm>
          <a:prstGeom prst="roundRect">
            <a:avLst>
              <a:gd name="adj" fmla="val 8889"/>
            </a:avLst>
          </a:prstGeom>
          <a:solidFill>
            <a:srgbClr val="F9EEDC"/>
          </a:solidFill>
          <a:ln w="12700">
            <a:solidFill>
              <a:srgbClr val="DC87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12064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193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हिन्दी · English · বাংলা · தமிழ் · తెలుగు · मराठी</a:t>
            </a:r>
            <a:pPr algn="l" indent="0" marL="0">
              <a:buNone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— verified end-to-end: pick Hindi, and the entire result (plan labels, forms, eligibility) renders in Hindi.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· न्याय सेतु · ScriptedBy{Her} 2.0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091672" y="6455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ON REAL DOCUMENTS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on genuine government FIRs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synthetic samples. Reviewers can run the engine on real, scanned First Information Reports pulled live from the Delhi Police public FIR portal.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19456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8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0.95–0.98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2971800"/>
            <a:ext cx="3410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confidence on real scanned, bilingual (Hindi + English) FIR forms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51960" y="219456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251960" y="2971800"/>
            <a:ext cx="3410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sections when a matter's Act isn't in the corpus — it falls back to real procedural rights, not invented law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36992" y="219456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8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1-tap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936992" y="2971800"/>
            <a:ext cx="3410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fires on real documents (Aadhaar / PAN / phone)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343400"/>
            <a:ext cx="11055096" cy="1600200"/>
          </a:xfrm>
          <a:prstGeom prst="roundRect">
            <a:avLst>
              <a:gd name="adj" fmla="val 4571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3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closed loop — end to 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4846320"/>
            <a:ext cx="10506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 →  grounded rights  →  documents to collect (with maps &amp; tap-to-call)  →  the real forms, filled by voice  →  the official portal to submit  →  free NALSA lawyer.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is real; nothing is auto-submitted — the user files on the real portal themselves.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· न्याय सेतु · ScriptedBy{Her} 2.0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091672" y="6455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 in depth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reduces hallucination — it never eliminates it. So no single layer is trusted: an error must slip past all five, and a NALSA lawyer still reviews anything filed.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2035454" cy="2743200"/>
          </a:xfrm>
          <a:prstGeom prst="roundRect">
            <a:avLst>
              <a:gd name="adj" fmla="val 4043"/>
            </a:avLst>
          </a:prstGeom>
          <a:solidFill>
            <a:srgbClr val="20265A"/>
          </a:solidFill>
          <a:ln w="12700">
            <a:solidFill>
              <a:srgbClr val="343B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487168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Grounded retrieval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310896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legal claim must cite a retrieved BNS / BNSS / NALSA passage.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452628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E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invented law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21838" y="2331720"/>
            <a:ext cx="2035454" cy="2743200"/>
          </a:xfrm>
          <a:prstGeom prst="roundRect">
            <a:avLst>
              <a:gd name="adj" fmla="val 4043"/>
            </a:avLst>
          </a:prstGeom>
          <a:solidFill>
            <a:srgbClr val="20265A"/>
          </a:solidFill>
          <a:ln w="12700">
            <a:solidFill>
              <a:srgbClr val="343B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8142" y="2487168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Refuse on doubt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68142" y="310896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threshold or outside the corpus, it declines and escalates.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68142" y="452628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E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low-confidence guesses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76749" y="2331720"/>
            <a:ext cx="2035454" cy="2743200"/>
          </a:xfrm>
          <a:prstGeom prst="roundRect">
            <a:avLst>
              <a:gd name="adj" fmla="val 4043"/>
            </a:avLst>
          </a:prstGeom>
          <a:solidFill>
            <a:srgbClr val="20265A"/>
          </a:solidFill>
          <a:ln w="12700">
            <a:solidFill>
              <a:srgbClr val="343B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3053" y="2487168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Structured drafts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23053" y="310896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templates with validated fields — office, form, deadline.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23053" y="452628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E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malformed procedure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31659" y="2331720"/>
            <a:ext cx="2035454" cy="2743200"/>
          </a:xfrm>
          <a:prstGeom prst="roundRect">
            <a:avLst>
              <a:gd name="adj" fmla="val 4043"/>
            </a:avLst>
          </a:prstGeom>
          <a:solidFill>
            <a:srgbClr val="20265A"/>
          </a:solidFill>
          <a:ln w="12700">
            <a:solidFill>
              <a:srgbClr val="343B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7963" y="2487168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Human review gate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77963" y="310896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NALSA legal aid reviews every filing and every sensitive case.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77963" y="452628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E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whatever automation missed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86570" y="2331720"/>
            <a:ext cx="2035454" cy="2743200"/>
          </a:xfrm>
          <a:prstGeom prst="roundRect">
            <a:avLst>
              <a:gd name="adj" fmla="val 4043"/>
            </a:avLst>
          </a:prstGeom>
          <a:solidFill>
            <a:srgbClr val="20265A"/>
          </a:solidFill>
          <a:ln w="12700">
            <a:solidFill>
              <a:srgbClr val="343B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32874" y="2487168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User verification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32874" y="310896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source; tells the user to confirm with the named office.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32874" y="452628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E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blind over-reliance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" y="534924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don't claim: 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zero error, not a substitute for a lawyer. Scope = first-response legal aid that gets people to the right office and the right human, faster — with a full audit log.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850" dirty="0">
                <a:solidFill>
                  <a:srgbClr val="9AA0C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· न्याय सेतु · ScriptedBy{Her} 2.0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091672" y="6455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Data-minimisation, stated honestly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36108" cy="1783080"/>
          </a:xfrm>
          <a:prstGeom prst="roundRect">
            <a:avLst>
              <a:gd name="adj" fmla="val 4615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1435608" y="2011680"/>
            <a:ext cx="4338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 at OCR time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9789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/ PAN / phone are masked the instant they're read — only type + last-4 are kept; readable IDs never propagate or persist.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85916" y="1783080"/>
            <a:ext cx="5436108" cy="1783080"/>
          </a:xfrm>
          <a:prstGeom prst="roundRect">
            <a:avLst>
              <a:gd name="adj" fmla="val 4615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4516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A327A"/>
          </a:solidFill>
          <a:ln/>
        </p:spPr>
      </p:sp>
      <p:sp>
        <p:nvSpPr>
          <p:cNvPr id="10" name="Text 8"/>
          <p:cNvSpPr/>
          <p:nvPr/>
        </p:nvSpPr>
        <p:spPr>
          <a:xfrm>
            <a:off x="7054596" y="2011680"/>
            <a:ext cx="4338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Transient by default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1948" y="2606040"/>
            <a:ext cx="49789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analysed transiently; the demo stores nothing. No case data is retained after the run.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749040"/>
            <a:ext cx="5436108" cy="1783080"/>
          </a:xfrm>
          <a:prstGeom prst="roundRect">
            <a:avLst>
              <a:gd name="adj" fmla="val 4615"/>
            </a:avLst>
          </a:prstGeom>
          <a:solidFill>
            <a:srgbClr val="F9EEDC"/>
          </a:solidFill>
          <a:ln w="12700">
            <a:solidFill>
              <a:srgbClr val="DC8724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5528" y="3977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67611"/>
          </a:solidFill>
          <a:ln/>
        </p:spPr>
      </p:sp>
      <p:sp>
        <p:nvSpPr>
          <p:cNvPr id="14" name="Text 12"/>
          <p:cNvSpPr/>
          <p:nvPr/>
        </p:nvSpPr>
        <p:spPr>
          <a:xfrm>
            <a:off x="1435608" y="3977640"/>
            <a:ext cx="4338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limit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49789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currently runs on a transient third-party model call, and a reviewing lawyer sees the document. We don't claim “no human ever sees anything.”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5916" y="3749040"/>
            <a:ext cx="5436108" cy="1783080"/>
          </a:xfrm>
          <a:prstGeom prst="roundRect">
            <a:avLst>
              <a:gd name="adj" fmla="val 4615"/>
            </a:avLst>
          </a:prstGeom>
          <a:solidFill>
            <a:srgbClr val="F9EEDC"/>
          </a:solidFill>
          <a:ln w="12700">
            <a:solidFill>
              <a:srgbClr val="DC8724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4516" y="3977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8724"/>
          </a:solidFill>
          <a:ln/>
        </p:spPr>
      </p:sp>
      <p:sp>
        <p:nvSpPr>
          <p:cNvPr id="18" name="Text 16"/>
          <p:cNvSpPr/>
          <p:nvPr/>
        </p:nvSpPr>
        <p:spPr>
          <a:xfrm>
            <a:off x="7054596" y="3977640"/>
            <a:ext cx="4338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sovereignty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1948" y="4572000"/>
            <a:ext cx="49789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OCR/LLM to Bhashini / India-hosted models for full DPDPA data-sovereignty; envelope encryption at rest; consented eKYC via DigiLocker.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· न्याय सेतु · ScriptedBy{Her} 2.0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091672" y="6455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HARD — AND HOW WE DE-RISK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name what isn't solved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5096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35624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hard problem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de-risk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1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Handwritten, multi-script Indic OCR — the real bottleneck, not the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Per-region confidence with a hard floor below which a human transcribes; launch on the highest-volume languages, expand on measured accuracy.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1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Special-act coverage gaps (NDPS, DV Act 2005, NI Act, state codes)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 is BNS/BNSS/HSA/NALSA today; it gives procedural + legal-aid guidance rather than fabricating a section. Roadmap: ingest high-frequency special acts.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1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sovereignty — cross-border OCR/LLM under DPDPA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masked; roadmap moves inference to Bhashini / India-hosted models; consent + purge SLA.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1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confidence for the human handoff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signal (OCR × classification × retrieval), conservative threshold, bias to escalation; roadmap calibrates it on real outcomes.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1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court integration &amp; persistence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eCourts/NJDG has no open API; today we deep-link and simulate tracking. Roadmap: eCommittee data-sharing MOU + an immutable, encrypted case log.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12648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buildable: every block — vision OCR, retrieval, NALSA rails, WhatsApp — is production-grade. The novelty and the risk is the orchestration, not unproven technology.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· न्याय सेतु · ScriptedBy{Her} 2.0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91672" y="6455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8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— AND 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distribution &amp; viability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36108" cy="1783080"/>
          </a:xfrm>
          <a:prstGeom prst="roundRect">
            <a:avLst>
              <a:gd name="adj" fmla="val 4615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2A327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2057400"/>
            <a:ext cx="4293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Justice at scale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9789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~500M rural adults; 50M+ pending cases. Reaching even 1% = 5M people served a year. NALSA holds the mandate — we add the missing last-mile reach.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85916" y="1783080"/>
            <a:ext cx="5436108" cy="1783080"/>
          </a:xfrm>
          <a:prstGeom prst="roundRect">
            <a:avLst>
              <a:gd name="adj" fmla="val 4615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1948" y="2057400"/>
            <a:ext cx="502920" cy="502920"/>
          </a:xfrm>
          <a:prstGeom prst="ellipse">
            <a:avLst/>
          </a:prstGeom>
          <a:solidFill>
            <a:srgbClr val="2A327A"/>
          </a:solidFill>
          <a:ln/>
        </p:spPr>
      </p:sp>
      <p:sp>
        <p:nvSpPr>
          <p:cNvPr id="11" name="Text 9"/>
          <p:cNvSpPr/>
          <p:nvPr/>
        </p:nvSpPr>
        <p:spPr>
          <a:xfrm>
            <a:off x="64419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00316" y="2057400"/>
            <a:ext cx="4293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Women-first by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1948" y="2651760"/>
            <a:ext cx="49789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FIR-denial remedy (BNSS §173/§175) and cruelty offences (BNS §85/§86) exist for exactly these cases; sensitive matters always escalate to a human.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749040"/>
            <a:ext cx="5436108" cy="1783080"/>
          </a:xfrm>
          <a:prstGeom prst="roundRect">
            <a:avLst>
              <a:gd name="adj" fmla="val 4615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2A327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81328" y="4023360"/>
            <a:ext cx="4293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is the moat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49789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acquire users — we embed in trusted last-mile rails: ASHA/Anganwadi workers, Gram Panchayats, NALSA PLVs, and ~5 lakh Common Service Centres.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85916" y="3749040"/>
            <a:ext cx="5436108" cy="1783080"/>
          </a:xfrm>
          <a:prstGeom prst="roundRect">
            <a:avLst>
              <a:gd name="adj" fmla="val 4615"/>
            </a:avLst>
          </a:prstGeom>
          <a:solidFill>
            <a:srgbClr val="F5F6FC"/>
          </a:solidFill>
          <a:ln w="12700">
            <a:solidFill>
              <a:srgbClr val="E1E4F1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1948" y="4023360"/>
            <a:ext cx="502920" cy="502920"/>
          </a:xfrm>
          <a:prstGeom prst="ellipse">
            <a:avLst/>
          </a:prstGeom>
          <a:solidFill>
            <a:srgbClr val="2A327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1948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00316" y="4023360"/>
            <a:ext cx="4293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Viable, not charity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1948" y="4617720"/>
            <a:ext cx="49789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today; at scale, target low-tens-of-₹ per document. B2G (NALSA / State legal-aid boards) and CSR-funded financial-inclusion mandates — revenue per funded case.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· न्याय सेतु · ScriptedBy{Her} 2.0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91672" y="6455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77240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Justice shouldn't require a postcode.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the infrastructure for equal justice in India — one document, one action, one life at a time.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8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90 days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288036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lawyer-adjudicated gold set to 200+ cases; publish per-state, per-category accuracy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high-frequency special acts (DV Act 2005, NI Act §138) + more state land codes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Field-grade handwritten OCR with a human-transcription floor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empanelled DLSA/volunteer-advocate review network with an SLA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66560" y="2468880"/>
            <a:ext cx="4846320" cy="2788920"/>
          </a:xfrm>
          <a:prstGeom prst="roundRect">
            <a:avLst>
              <a:gd name="adj" fmla="val 3279"/>
            </a:avLst>
          </a:prstGeom>
          <a:solidFill>
            <a:srgbClr val="20265A"/>
          </a:solidFill>
          <a:ln w="12700">
            <a:solidFill>
              <a:srgbClr val="343B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22592" y="26334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8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22592" y="3035808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from legal-tech &amp; GovTech experts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NALSA / State Legal Services stakeholders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the eCommittee (eCourts/NJDG) data-sharing path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to finish field-grade OCR + calibration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594360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NyayaSetu </a:t>
            </a:r>
            <a:pPr algn="l" indent="0" marL="0">
              <a:buNone/>
            </a:pPr>
            <a:r>
              <a:rPr lang="en-US" sz="1400" dirty="0">
                <a:solidFill>
                  <a:srgbClr val="DC872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न्याय सेतु</a:t>
            </a:r>
            <a:pPr algn="l" indent="0" marL="0">
              <a:buNone/>
            </a:pPr>
            <a:r>
              <a:rPr lang="en-US" sz="1400" dirty="0">
                <a:solidFill>
                  <a:srgbClr val="AE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nyaya-setu-nine.vercel.app   ·   ScriptedBy{Her} 2.0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NyayaSetu — Agentic Legal Aid for Rural India</dc:title>
  <dc:subject>PptxGenJS Presentation</dc:subject>
  <dc:creator>NyayaSetu</dc:creator>
  <cp:lastModifiedBy>NyayaSetu</cp:lastModifiedBy>
  <cp:revision>1</cp:revision>
  <dcterms:created xsi:type="dcterms:W3CDTF">2026-07-19T11:10:50Z</dcterms:created>
  <dcterms:modified xsi:type="dcterms:W3CDTF">2026-07-19T11:10:50Z</dcterms:modified>
</cp:coreProperties>
</file>