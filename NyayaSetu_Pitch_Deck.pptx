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Segoe UI"/>
              </a:defRPr>
            </a:pPr>
            <a:r>
              <a:t>NyayaSetu (न्याय सेतु)</a:t>
            </a:r>
          </a:p>
          <a:p>
            <a:pPr>
              <a:spcBef>
                <a:spcPts val="1000"/>
              </a:spcBef>
              <a:defRPr sz="2200" b="1">
                <a:solidFill>
                  <a:srgbClr val="EA580C"/>
                </a:solidFill>
                <a:latin typeface="Segoe UI"/>
              </a:defRPr>
            </a:pPr>
            <a:r>
              <a:t>Voice-First, Grounded, and State-Aware Agentic Legal Aid for Rural India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291840"/>
            <a:ext cx="3657600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Upload a photograph of any legal document. A 5-agent state machine reads it, grounds a strategy in real Indian statute, pre-fills official filings, and routes complex cases to free government legal aid.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🛡️ 100% Grounded RAG | 🌾 25+ States Jurisdiction Engine | 🎤 Voice-First &amp; Localized in 6 Languages</a:t>
            </a:r>
          </a:p>
          <a:p>
            <a:pPr>
              <a:spcAft>
                <a:spcPts val="10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FREE-TIER ECONOMICS · DPDPA 2023 PRIVACY REDACTION · LAWYER-AUDITED ACCURACY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The Rural Legal Crisis &amp; The Generative AI Safety Trap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12064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THE RURAL JUSTICE BARRIER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2/3 of Civil Disputes: Primary source of rural litigation centers on land records, succession, and mutation issues.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The Literacy &amp; Language Barrier: Legal notices, court summons, and FIR records are written in mixed scripts or archaic legal jargon.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High Stakes: Missing a statutory 30-day mutation objection window or submitting to the wrong authority results in immediate loss of land/rights.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Middleman Exploitation: Rural citizens pay exorbitant fees to agents/intermediaries due to a total lack of transparent legal guidance.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5255" y="1645920"/>
            <a:ext cx="5120640" cy="393192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3855" y="182880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A580C"/>
                </a:solidFill>
                <a:latin typeface="Segoe UI"/>
              </a:defRPr>
            </a:pPr>
            <a:r>
              <a:t>THE GENERATIVE AI HALLUCINATION RISK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OUT-OF-THE-BOX MODELS ARE DANGEROUS: General chatbots are creative; they routinely hallucinate statutes, cite repealed codes, or fabricate deadlines.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STATE-BLINDNESS FAILURE: Land is a State subject. General models mix up local offices, prescribing a Bihar process to a Maharashtra land owner.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UPL REGULATORY VIOLATIONS: General bots giving generic legal advice violate Bar Council of India regulations, presenting severe liability.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NO SAFE HUMAN ESCALATION: Out-of-the-box systems offer no safety net when confidence drops or sensitive files (e.g. domestic violence) are scanned.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760720"/>
            <a:ext cx="10820095" cy="640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97880"/>
            <a:ext cx="1036289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🛡️ THE NYAYASETU SAFETY GAUNTLET: If the legal database doesn't retrieve verified statute passages, the model refuses to explain the law and routes straight to human aid.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End-to-End User Flow &amp; Multi-Agent Execution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468880" cy="4023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1. READ &amp; MASK</a:t>
            </a:r>
            <a:br/>
            <a:r>
              <a:t>(Document Agent)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219456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• OCR OCR Processing</a:t>
            </a:r>
          </a:p>
          <a:p>
            <a:pPr>
              <a:spcAft>
                <a:spcPts val="1000"/>
              </a:spcAft>
              <a:defRPr sz="1200" b="0">
                <a:solidFill>
                  <a:srgbClr val="334155"/>
                </a:solidFill>
                <a:latin typeface="Segoe UI"/>
              </a:defRPr>
            </a:pPr>
            <a:r>
              <a:t>Gemini-2.0-Flash parses handwritten/printed scripts.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• Zero-Knowledge Masking</a:t>
            </a:r>
          </a:p>
          <a:p>
            <a:pPr>
              <a:spcAft>
                <a:spcPts val="1000"/>
              </a:spcAft>
              <a:defRPr sz="1200" b="0">
                <a:solidFill>
                  <a:srgbClr val="334155"/>
                </a:solidFill>
                <a:latin typeface="Segoe UI"/>
              </a:defRPr>
            </a:pPr>
            <a:r>
              <a:t>PII (Aadhaar, PAN, Voter ID, Phones) are regex-redacted at entry point.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• Legal Document Guard</a:t>
            </a:r>
          </a:p>
          <a:p>
            <a:pPr>
              <a:spcAft>
                <a:spcPts val="1000"/>
              </a:spcAft>
              <a:defRPr sz="1200" b="0">
                <a:solidFill>
                  <a:srgbClr val="334155"/>
                </a:solidFill>
                <a:latin typeface="Segoe UI"/>
              </a:defRPr>
            </a:pPr>
            <a:r>
              <a:t>Instantly halts execution if upload isn't a legal notice.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9233" y="1645920"/>
            <a:ext cx="2468880" cy="4023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6393" y="182880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2. GROUND STRATEGY</a:t>
            </a:r>
            <a:br/>
            <a:r>
              <a:t>(Strategy Agent)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6393" y="2651760"/>
            <a:ext cx="219456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• Hybrid RAG Retrieval</a:t>
            </a:r>
          </a:p>
          <a:p>
            <a:pPr>
              <a:spcAft>
                <a:spcPts val="1000"/>
              </a:spcAft>
              <a:defRPr sz="1200" b="0">
                <a:solidFill>
                  <a:srgbClr val="334155"/>
                </a:solidFill>
                <a:latin typeface="Segoe UI"/>
              </a:defRPr>
            </a:pPr>
            <a:r>
              <a:t>Queries BM25 and dense embeddings on 938 ingested sections.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• Citation Checker</a:t>
            </a:r>
          </a:p>
          <a:p>
            <a:pPr>
              <a:spcAft>
                <a:spcPts val="1000"/>
              </a:spcAft>
              <a:defRPr sz="1200" b="0">
                <a:solidFill>
                  <a:srgbClr val="334155"/>
                </a:solidFill>
                <a:latin typeface="Segoe UI"/>
              </a:defRPr>
            </a:pPr>
            <a:r>
              <a:t>Programmatically verifies and strips citations not in retrieved RAG context.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• Jurisdiction Engine</a:t>
            </a:r>
          </a:p>
          <a:p>
            <a:pPr>
              <a:spcAft>
                <a:spcPts val="1000"/>
              </a:spcAft>
              <a:defRPr sz="1200" b="0">
                <a:solidFill>
                  <a:srgbClr val="334155"/>
                </a:solidFill>
                <a:latin typeface="Segoe UI"/>
              </a:defRPr>
            </a:pPr>
            <a:r>
              <a:t>Aligns language/forms with state-correct registry.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2666" y="1645920"/>
            <a:ext cx="2468880" cy="4023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9826" y="182880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3. EXPLAIN &amp; DRAFT</a:t>
            </a:r>
            <a:br/>
            <a:r>
              <a:t>(Drafting Agent)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9826" y="2651760"/>
            <a:ext cx="219456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• Voice-First UX</a:t>
            </a:r>
          </a:p>
          <a:p>
            <a:pPr>
              <a:spcAft>
                <a:spcPts val="1000"/>
              </a:spcAft>
              <a:defRPr sz="1200" b="0">
                <a:solidFill>
                  <a:srgbClr val="334155"/>
                </a:solidFill>
                <a:latin typeface="Segoe UI"/>
              </a:defRPr>
            </a:pPr>
            <a:r>
              <a:t>Reads the strategy aloud to the user using browser TTS API.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• Live Pre-Filled Forms</a:t>
            </a:r>
          </a:p>
          <a:p>
            <a:pPr>
              <a:spcAft>
                <a:spcPts val="1000"/>
              </a:spcAft>
              <a:defRPr sz="1200" b="0">
                <a:solidFill>
                  <a:srgbClr val="334155"/>
                </a:solidFill>
                <a:latin typeface="Segoe UI"/>
              </a:defRPr>
            </a:pPr>
            <a:r>
              <a:t>Drafts state-specific filing forms (RTI, mutation, complaints).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• Speak-to-Fill Fields</a:t>
            </a:r>
          </a:p>
          <a:p>
            <a:pPr>
              <a:spcAft>
                <a:spcPts val="1000"/>
              </a:spcAft>
              <a:defRPr sz="1200" b="0">
                <a:solidFill>
                  <a:srgbClr val="334155"/>
                </a:solidFill>
                <a:latin typeface="Segoe UI"/>
              </a:defRPr>
            </a:pPr>
            <a:r>
              <a:t>Translates speech input directly into text fields.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36099" y="1645920"/>
            <a:ext cx="2468880" cy="402336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73259" y="182880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4. EVALUATE &amp; REFER</a:t>
            </a:r>
            <a:br/>
            <a:r>
              <a:t>(Confidence Gate)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3259" y="2651760"/>
            <a:ext cx="219456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EA580C"/>
                </a:solidFill>
                <a:latin typeface="Segoe UI"/>
              </a:defRPr>
            </a:pPr>
            <a:r>
              <a:t>• Calibrated Check</a:t>
            </a:r>
          </a:p>
          <a:p>
            <a:pPr>
              <a:spcAft>
                <a:spcPts val="1000"/>
              </a:spcAft>
              <a:defRPr sz="1200" b="0">
                <a:solidFill>
                  <a:srgbClr val="334155"/>
                </a:solidFill>
                <a:latin typeface="Segoe UI"/>
              </a:defRPr>
            </a:pPr>
            <a:r>
              <a:t>Geometric Mean assesses OCR, classification, and RAG score.</a:t>
            </a:r>
          </a:p>
          <a:p>
            <a:pPr>
              <a:spcAft>
                <a:spcPts val="1000"/>
              </a:spcAft>
              <a:defRPr sz="1400" b="1">
                <a:solidFill>
                  <a:srgbClr val="EA580C"/>
                </a:solidFill>
                <a:latin typeface="Segoe UI"/>
              </a:defRPr>
            </a:pPr>
            <a:r>
              <a:t>• Safe Escalation Handoff</a:t>
            </a:r>
          </a:p>
          <a:p>
            <a:pPr>
              <a:spcAft>
                <a:spcPts val="1000"/>
              </a:spcAft>
              <a:defRPr sz="1200" b="0">
                <a:solidFill>
                  <a:srgbClr val="334155"/>
                </a:solidFill>
                <a:latin typeface="Segoe UI"/>
              </a:defRPr>
            </a:pPr>
            <a:r>
              <a:t>If confidence &lt; 0.72 or domestic violence is scanned, auto-escalates.</a:t>
            </a:r>
          </a:p>
          <a:p>
            <a:pPr>
              <a:spcAft>
                <a:spcPts val="1000"/>
              </a:spcAft>
              <a:defRPr sz="1400" b="1">
                <a:solidFill>
                  <a:srgbClr val="EA580C"/>
                </a:solidFill>
                <a:latin typeface="Segoe UI"/>
              </a:defRPr>
            </a:pPr>
            <a:r>
              <a:t>• NALSA Helpline (15100)</a:t>
            </a:r>
          </a:p>
          <a:p>
            <a:pPr>
              <a:spcAft>
                <a:spcPts val="1000"/>
              </a:spcAft>
              <a:defRPr sz="1200" b="0">
                <a:solidFill>
                  <a:srgbClr val="334155"/>
                </a:solidFill>
                <a:latin typeface="Segoe UI"/>
              </a:defRPr>
            </a:pPr>
            <a:r>
              <a:t>Routes to the statutory free human legal-aid system.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852160"/>
            <a:ext cx="10820095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334155"/>
                </a:solidFill>
                <a:latin typeface="Segoe UI"/>
              </a:defRPr>
            </a:pPr>
            <a:r>
              <a:t>🔗 Immutable State Ledger: Every agent transition generates a replayable CaseEvent log streamed live to the 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Deterministic State Machine &amp; Ledger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48640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0292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IMMUTABLE EVENT-DRIVEN SEQUENCING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Pure-ish Functions: Individual agents (Document, Strategy, Drafting) act as pure functional transformations, making tests robust.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CaseEvent Ledger: Every state change, API call, and output is captured as a serialized JSON log event and pushed to the UI.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Replayability: Any failed case can be re-run offline using the exact JSON state payload, streamlining bug reproduction and latency profiling.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UI Streaming: Server-Sent Events (SSE) stream the state machine's progress live, keeping the UI responsive and highly interactive.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76695" y="1645920"/>
            <a:ext cx="502920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5295" y="1828800"/>
            <a:ext cx="45720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CORE DOMAIN CONTRACTS (src/lib/types.ts)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CaseState Contract: An all-encompassing TypeScript contract detailing case IDs, timestamps, language, redacted documents, strategies, and audits.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Strict Classification Schema: Case categories are statically defined (land_inheritance, fir_denial, domestic_violence, rti, consumer, other).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Multi-Agent Handshake: Output interfaces dictate strict schemas (e.g., ActionStep carries office addresses, contacts, citations, forms).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Privacy redactions: Masked values (VaultEntry) carry type, last-4, and opaque tokens, separating secure references from LLM prompts.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Grounded Hybrid RAG &amp; Verification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48640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0292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HYBRID RETRIEVAL &amp; QUERY EXPANSION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Dual Ranking Flow: Fuses serverless BM25 keyword matching with dense vector cosine similarity (Gemini embeddings). Ensures zero infrastructure lookup costs.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Vocabulary Expansion: Expands search queries using domain-specific terminology (e.g., succession matches coparcenary, intestate, Class I heir).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Statute Book Filtering: Restricts lookup space based on case category to prevent search pollution (e.g. inheritance disputes look only at Hindu Succession and NALSA Act).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Localized Keyword Coverage: Fuses Hindi/vernacular terms into the retrieval queries so local documents surface the exact correct statute section.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76695" y="1645920"/>
            <a:ext cx="5029200" cy="466344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5295" y="1828800"/>
            <a:ext cx="45720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A580C"/>
                </a:solidFill>
                <a:latin typeface="Segoe UI"/>
              </a:defRPr>
            </a:pPr>
            <a:r>
              <a:t>CITATION FILTERING &amp; REFUSALS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Programmatic Citation Filter: Parses generated strategy responses and drops any citations that were not present in the retrieved RAG context.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Out-of-Corpus Refusal: If retrieval scores fall below threshold or return empty (e.g., for RTI cases where the Act is not in the corpus), the model refuses to speculate, outputs generic forms, and escalates.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Context Injection: Injects exact code structures and section text into LLM prompts, constraining the generation window.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Class-I Succession Traps: Automatically excludes irrelevant codes (e.g. maternal inheritance rules for paternal estate cases) to ensure legal correctness.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The Mathematical Confidence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10820095" cy="1188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EA580C"/>
                </a:solidFill>
                <a:latin typeface="Segoe UI"/>
              </a:defRPr>
            </a:pPr>
            <a:r>
              <a:t>Weighted Geometric Mean Ensemble Confidence</a:t>
            </a:r>
          </a:p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Ensemble Score = exp( 0.3 * ln(c_ocr) + 0.3 * ln(c_class) + 0.4 * ln(c_retrieval) )</a:t>
            </a:r>
          </a:p>
          <a:p>
            <a:pPr>
              <a:spcAft>
                <a:spcPts val="1000"/>
              </a:spcAft>
              <a:defRPr sz="1200" b="0">
                <a:solidFill>
                  <a:srgbClr val="CBD5E1"/>
                </a:solidFill>
                <a:latin typeface="Segoe UI"/>
              </a:defRPr>
            </a:pPr>
            <a:r>
              <a:t>Deliberate collapse design: If any single signal falls to near zero, the entire score collapses, triggering escalation.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017520"/>
            <a:ext cx="5303520" cy="3291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48463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SIGNAL EVALUATION CRITERIA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OCR Clarity (c_ocr): Evaluated directly from the Document Agent. Smudged, handwritten, or low-contrast documents pull this down.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Classification Confidence (c_class): Measures how sure the model is of the legal category (e.g., inheritance vs. consumer).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Retrieval Score (c_retrieval): Measures the similarity of RAG results. Low similarity means weak statutory grounding, forcing escalation.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2375" y="3017520"/>
            <a:ext cx="5303520" cy="329184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3200400"/>
            <a:ext cx="48463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A580C"/>
                </a:solidFill>
                <a:latin typeface="Segoe UI"/>
              </a:defRPr>
            </a:pPr>
            <a:r>
              <a:t>SAFETY HANDOFF RULES (15100 HELP)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Threshold Gate: Cases scoring below 0.72 are routed to human review.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ALWAYS-ESCALATE OVERRIDE: Sensitive categories (e.g. domestic violence, matrimonial harassment) bypass the gate and route to humans.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Statutory Referrals Only: Routes exclusively to the free, statutory NALSA/DLSA legal aid system. No private attorney referral loops.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National Jurisdiction Engine &amp; State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11480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6576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THE JURISDICTION PROBLEM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State Subject: Land and revenue laws are entirely state-governed. Using wrong names or portals invalidates filings.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Resolution Precedence: Dynamic lookup resolution: User Explicit Choice -&gt; NLP Text Extraction -&gt; National Fallback (DILRMP).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Prompt Injector: Dynamically injects governing state information into agent contexts.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0" y="1645920"/>
          <a:ext cx="647669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371600"/>
                <a:gridCol w="1188720"/>
                <a:gridCol w="1447495"/>
              </a:tblGrid>
              <a:tr h="9326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Terminology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Record Title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Officer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Portal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Jharkhand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Dakhil-Kharij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Khatiyan / RoR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Circle Officer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JharBhoomi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Maharashtra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Pheri / Mutation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7/12 (Satbara)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Talathi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Mahabhulekh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Uttar Pradesh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Dakhil-Kharij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Khatauni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Tehsildar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UP Bhulekh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Tamil Nadu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Name Transfer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Patta Chitta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Tahsildar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Patta Chitta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Zero-Knowledge Privacy &amp; DPDPA Compliance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48640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0292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IMMEDIATE REDACTION AT ENTRY POINT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Server-Side Interception: OCR raw outputs are passed through a regex redaction engine immediately upon extraction.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Target Identifiers: Automatically detects and masks Indian identifiers: Aadhaar (12-digit patterns), PAN cards, voter IDs (EPIC), and phone numbers.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Zero-Leakage Prompting: masked inputs are forwarded to downstream agents (Strategy, Drafting), preventing private data leakage to APIs.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76695" y="1645920"/>
            <a:ext cx="502920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5295" y="1828800"/>
            <a:ext cx="45720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SECURE TOKEN VAULT ARCHITECTURE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Token Separation: Replaces identifiers with a secure token (e.g. `[AADHAAR ••••5678]` alongside an opaque token id).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In-Memory Vision Analysis: Scanned notice images are parsed in-memory and immediately discarded. No images or raw OCR text are persisted.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Compliance: Built to adhere directly to the Digital Personal Data Protection (DPDPA) Act 2023 guidelines on data minimisation.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Lawyer-Adjudicated Evaluation Harness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02920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5720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CONTINUOUS INTEGRATION (CI) GATE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Lawyer-Signed Gold Set: Baseline test cases verified by legal counsel (covering inheritance disputes, FIR denials, domestic violence).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CI/CD Rule: Any changes in agent prompts, model versions, or retrieval weights must pass the test suite to gate code releases.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Zero Quota Mode: Runs retrieval testing offline without API keys, guaranteeing test repeatability.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645920"/>
            <a:ext cx="5562295" cy="46634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029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A580C"/>
                </a:solidFill>
                <a:latin typeface="Segoe UI"/>
              </a:defRPr>
            </a:pPr>
            <a:r>
              <a:t>ACTUAL SYSTEM TEST SUITE OUTPUTS</a:t>
            </a:r>
          </a:p>
          <a:p>
            <a:pPr>
              <a:spcAft>
                <a:spcPts val="10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• Retrieval Recall@8 (mustCite): 100% (11/11)</a:t>
            </a:r>
            <a:br/>
            <a:r>
              <a:t>- Grounding layer successfully surfaces all required statutes.</a:t>
            </a:r>
          </a:p>
          <a:p>
            <a:pPr>
              <a:spcAft>
                <a:spcPts val="10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• Citation Precision (plan): 80% (12/15)</a:t>
            </a:r>
            <a:br/>
            <a:r>
              <a:t>- Ensures legal claims are anchored without hallucinated codes.</a:t>
            </a:r>
          </a:p>
          <a:p>
            <a:pPr>
              <a:spcAft>
                <a:spcPts val="10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• Wrong-Law Citations (mustNotCite): 0 (PASS)</a:t>
            </a:r>
            <a:br/>
            <a:r>
              <a:t>- Avoids legal traps (e.g. citing matrimonial cruelty for land).</a:t>
            </a:r>
          </a:p>
          <a:p>
            <a:pPr>
              <a:spcAft>
                <a:spcPts val="10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• Escalation Accuracy: 100% (7/7)</a:t>
            </a:r>
            <a:br/>
            <a:r>
              <a:t>- Safe routing of sensitive and low-confidence cases.</a:t>
            </a:r>
          </a:p>
          <a:p>
            <a:pPr>
              <a:spcAft>
                <a:spcPts val="10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───────────────────────────────────</a:t>
            </a:r>
          </a:p>
          <a:p>
            <a:pPr>
              <a:spcAft>
                <a:spcPts val="1000"/>
              </a:spcAft>
              <a:defRPr sz="1300" b="1">
                <a:solidFill>
                  <a:srgbClr val="16A34A"/>
                </a:solidFill>
                <a:latin typeface="Segoe UI"/>
              </a:defRPr>
            </a:pPr>
            <a:r>
              <a:t>✓ PASS  ·  Gold Set v0.1.0 Verified  ·  0 Hallucinations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Architecture Stack &amp; Free-Tier Economics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30352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PRODUCTION SYSTEM STACK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Next.js 16 (App Router) &amp; React 19: High-performance frontend; handles streamed Server-Sent Events.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Tailwind CSS v4: Delivers highly visual, premium responsive layouts matching modern fluid standards.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Supabase Database: Encrypted, secure storage for metadata vault references.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Browser Web Speech API: Enables speech recognition (STT) and reading aloud (TTS) with zero API billing.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2375" y="1645920"/>
            <a:ext cx="5303520" cy="466344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30975" y="1828800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A580C"/>
                </a:solidFill>
                <a:latin typeface="Segoe UI"/>
              </a:defRPr>
            </a:pPr>
            <a:r>
              <a:t>FREE-TIER ECONOMICS &amp; SWAPPABLE PROVIDERS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Swappable API Layer (src/lib/llm): Single unified wrapper abstracting SDKs. Easily swap developer models for Claude with zero agent edits.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Resilient Fallbacks: Groq daily limits transparently trigger fallbacks to Gemini, ensuring pipeline availability.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Zero Cost Prototype: Operates on Google Gemini free tier and Groq developer tiers.</a:t>
            </a:r>
          </a:p>
          <a:p>
            <a:pPr>
              <a:spcAft>
                <a:spcPts val="1000"/>
              </a:spcAft>
              <a:defRPr sz="1400" b="0">
                <a:solidFill>
                  <a:srgbClr val="334155"/>
                </a:solidFill>
                <a:latin typeface="Segoe UI"/>
              </a:defRPr>
            </a:pPr>
            <a:r>
              <a:t>• Roadmap: Move vision OCR to localized India-hosted models (Bhashini), integrate eCourts case updates, and enable DigiLocker eKYC.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